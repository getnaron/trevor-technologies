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58" r:id="rId3"/>
    <p:sldId id="269" r:id="rId4"/>
    <p:sldId id="259" r:id="rId5"/>
    <p:sldId id="260" r:id="rId6"/>
    <p:sldId id="314" r:id="rId7"/>
    <p:sldId id="315" r:id="rId8"/>
    <p:sldId id="316" r:id="rId9"/>
    <p:sldId id="297" r:id="rId10"/>
    <p:sldId id="262" r:id="rId11"/>
    <p:sldId id="263" r:id="rId12"/>
    <p:sldId id="317" r:id="rId13"/>
    <p:sldId id="266" r:id="rId14"/>
    <p:sldId id="296" r:id="rId15"/>
    <p:sldId id="279" r:id="rId16"/>
    <p:sldId id="318" r:id="rId17"/>
    <p:sldId id="31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0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4660"/>
  </p:normalViewPr>
  <p:slideViewPr>
    <p:cSldViewPr snapToGrid="0">
      <p:cViewPr varScale="1">
        <p:scale>
          <a:sx n="91" d="100"/>
          <a:sy n="91" d="100"/>
        </p:scale>
        <p:origin x="60" y="1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6/6/2026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563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6/6/2026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15235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6/6/2026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808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6/6/2026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3271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6/6/2026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3958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6/6/2026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48162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6/6/2026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11724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6/6/2026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63021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6/6/2026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6044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6/6/2026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8628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6/6/2026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437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6/6/2026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29717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29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434877" y="911118"/>
            <a:ext cx="4308672" cy="3224045"/>
          </a:xfrm>
        </p:spPr>
        <p:txBody>
          <a:bodyPr anchor="b">
            <a:normAutofit/>
          </a:bodyPr>
          <a:lstStyle/>
          <a:p>
            <a:r>
              <a:rPr lang="en-US" sz="5800" b="0" dirty="0">
                <a:solidFill>
                  <a:srgbClr val="0A1068"/>
                </a:solidFill>
                <a:latin typeface="Tahoma" panose="020B0604030504040204" pitchFamily="34" charset="0"/>
                <a:ea typeface="Tahoma" panose="020B0604030504040204" pitchFamily="34" charset="0"/>
                <a:cs typeface="Tahoma" panose="020B0604030504040204" pitchFamily="34" charset="0"/>
              </a:rPr>
              <a:t>Information</a:t>
            </a:r>
            <a:r>
              <a:rPr lang="en-US" sz="5800" dirty="0">
                <a:solidFill>
                  <a:srgbClr val="0A1068"/>
                </a:solidFill>
              </a:rPr>
              <a:t> </a:t>
            </a:r>
          </a:p>
        </p:txBody>
      </p:sp>
      <p:sp>
        <p:nvSpPr>
          <p:cNvPr id="3" name="Subtitle 2"/>
          <p:cNvSpPr>
            <a:spLocks noGrp="1"/>
          </p:cNvSpPr>
          <p:nvPr>
            <p:ph type="subTitle" idx="1"/>
          </p:nvPr>
        </p:nvSpPr>
        <p:spPr>
          <a:xfrm>
            <a:off x="7535756" y="5046281"/>
            <a:ext cx="4308672" cy="1172408"/>
          </a:xfrm>
        </p:spPr>
        <p:txBody>
          <a:bodyPr anchor="t">
            <a:normAutofit/>
          </a:bodyPr>
          <a:lstStyle/>
          <a:p>
            <a:r>
              <a:rPr lang="en-US" dirty="0">
                <a:solidFill>
                  <a:srgbClr val="0A1068"/>
                </a:solidFill>
                <a:latin typeface="Tahoma" panose="020B0604030504040204" pitchFamily="34" charset="0"/>
                <a:ea typeface="Tahoma" panose="020B0604030504040204" pitchFamily="34" charset="0"/>
                <a:cs typeface="Tahoma" panose="020B0604030504040204" pitchFamily="34" charset="0"/>
              </a:rPr>
              <a:t>Details for website</a:t>
            </a:r>
          </a:p>
        </p:txBody>
      </p:sp>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FC9D694-206A-508D-BAC0-4529BFFFB928}"/>
              </a:ext>
            </a:extLst>
          </p:cNvPr>
          <p:cNvSpPr txBox="1"/>
          <p:nvPr/>
        </p:nvSpPr>
        <p:spPr>
          <a:xfrm>
            <a:off x="1429507" y="1203553"/>
            <a:ext cx="10314042" cy="984885"/>
          </a:xfrm>
          <a:prstGeom prst="rect">
            <a:avLst/>
          </a:prstGeom>
          <a:noFill/>
        </p:spPr>
        <p:txBody>
          <a:bodyPr wrap="none" rtlCol="0">
            <a:spAutoFit/>
          </a:bodyPr>
          <a:lstStyle/>
          <a:p>
            <a:r>
              <a:rPr lang="en-US" sz="5800" b="1" dirty="0">
                <a:solidFill>
                  <a:srgbClr val="0A1068"/>
                </a:solidFill>
                <a:latin typeface="Tahoma" panose="020B0604030504040204" pitchFamily="34" charset="0"/>
                <a:ea typeface="Tahoma" panose="020B0604030504040204" pitchFamily="34" charset="0"/>
                <a:cs typeface="Tahoma" panose="020B0604030504040204" pitchFamily="34" charset="0"/>
              </a:rPr>
              <a:t>Trevor Technologies WLL </a:t>
            </a:r>
            <a:endParaRPr lang="en-US" sz="5800" b="1"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A562-D09D-1D7F-F210-63D54951D3EF}"/>
              </a:ext>
            </a:extLst>
          </p:cNvPr>
          <p:cNvSpPr>
            <a:spLocks noGrp="1"/>
          </p:cNvSpPr>
          <p:nvPr>
            <p:ph type="title"/>
          </p:nvPr>
        </p:nvSpPr>
        <p:spPr>
          <a:xfrm>
            <a:off x="155985" y="1102659"/>
            <a:ext cx="3859397" cy="1451723"/>
          </a:xfrm>
        </p:spPr>
        <p:txBody>
          <a:bodyPr>
            <a:normAutofit/>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Trevor Technologies WLL </a:t>
            </a:r>
          </a:p>
        </p:txBody>
      </p:sp>
      <p:sp>
        <p:nvSpPr>
          <p:cNvPr id="3" name="Content Placeholder 2">
            <a:extLst>
              <a:ext uri="{FF2B5EF4-FFF2-40B4-BE49-F238E27FC236}">
                <a16:creationId xmlns:a16="http://schemas.microsoft.com/office/drawing/2014/main" id="{F7738160-4921-1E15-F221-3E7B8400ECD7}"/>
              </a:ext>
            </a:extLst>
          </p:cNvPr>
          <p:cNvSpPr>
            <a:spLocks noGrp="1"/>
          </p:cNvSpPr>
          <p:nvPr>
            <p:ph idx="1"/>
          </p:nvPr>
        </p:nvSpPr>
        <p:spPr>
          <a:xfrm>
            <a:off x="4015383" y="520168"/>
            <a:ext cx="7770218" cy="6161526"/>
          </a:xfrm>
        </p:spPr>
        <p:txBody>
          <a:bodyPr vert="horz" lIns="91440" tIns="45720" rIns="91440" bIns="45720" rtlCol="0" anchor="t">
            <a:normAutofit/>
          </a:bodyPr>
          <a:lstStyle/>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Since its inception in 2014, our company has been dedicated to delivering reliable and advanced power solutions for industrial, commercial, telecom, healthcare, infrastructure, and critical application sectors. With a strong focus on quality, performance, and customer support, we provide complete solutions in Power Backup Systems, Power Quality Management, Central Battery Systems, and Solar Power Systems.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expertise covers a wide range of energy storage technologies including Ni-Cd Batteries, Lead Acid Batteries, Lithium Batteries, and Sodium Battery Systems. We offer end-to-end services including system design, supply, installation, testing &amp; commissioning, retrofitting, maintenance, and comprehensive after-sales support.</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Driven by strong leadership and guided by unwavering core values, our company is committed to maintaining the highest standards of Ethics, Safety, Quality, and Employee Welfare. These principles form the foundation of our culture, shaping how we work, serve our customers, support employees, and contribute responsibly to society.</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Backed by technical expertise, industry experience, and a customer-centric approach, we are committed to delivering dependable, efficient, and future-ready power solutions tailored to our clients’ operational requirements.</a:t>
            </a: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CF98E21E-D9B3-CD1C-9388-0A43CB60C645}"/>
              </a:ext>
            </a:extLst>
          </p:cNvPr>
          <p:cNvSpPr>
            <a:spLocks noGrp="1"/>
          </p:cNvSpPr>
          <p:nvPr>
            <p:ph type="body" sz="half" idx="2"/>
          </p:nvPr>
        </p:nvSpPr>
        <p:spPr/>
        <p:txBody>
          <a:bodyPr vert="horz" lIns="91440" tIns="45720" rIns="91440" bIns="45720" rtlCol="0" anchor="t">
            <a:normAutofit/>
          </a:bodyPr>
          <a:lstStyle/>
          <a:p>
            <a:r>
              <a:rPr lang="en-US" dirty="0">
                <a:solidFill>
                  <a:srgbClr val="0A1068"/>
                </a:solidFill>
                <a:latin typeface="Tahoma" panose="020B0604030504040204" pitchFamily="34" charset="0"/>
                <a:ea typeface="Tahoma" panose="020B0604030504040204" pitchFamily="34" charset="0"/>
                <a:cs typeface="Tahoma" panose="020B0604030504040204" pitchFamily="34" charset="0"/>
              </a:rPr>
              <a:t>About US</a:t>
            </a:r>
          </a:p>
        </p:txBody>
      </p:sp>
    </p:spTree>
    <p:extLst>
      <p:ext uri="{BB962C8B-B14F-4D97-AF65-F5344CB8AC3E}">
        <p14:creationId xmlns:p14="http://schemas.microsoft.com/office/powerpoint/2010/main" val="2585849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5753-FE00-BA25-D46D-A28979343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29B38-B5EC-1420-4566-BFC21227A1FE}"/>
              </a:ext>
            </a:extLst>
          </p:cNvPr>
          <p:cNvSpPr>
            <a:spLocks noGrp="1"/>
          </p:cNvSpPr>
          <p:nvPr>
            <p:ph type="title"/>
          </p:nvPr>
        </p:nvSpPr>
        <p:spPr/>
        <p:txBody>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Power Backup </a:t>
            </a:r>
          </a:p>
        </p:txBody>
      </p:sp>
      <p:sp>
        <p:nvSpPr>
          <p:cNvPr id="3" name="Content Placeholder 2">
            <a:extLst>
              <a:ext uri="{FF2B5EF4-FFF2-40B4-BE49-F238E27FC236}">
                <a16:creationId xmlns:a16="http://schemas.microsoft.com/office/drawing/2014/main" id="{68E22185-74EE-51F6-0F4C-33DBE816F494}"/>
              </a:ext>
            </a:extLst>
          </p:cNvPr>
          <p:cNvSpPr>
            <a:spLocks noGrp="1"/>
          </p:cNvSpPr>
          <p:nvPr>
            <p:ph idx="1"/>
          </p:nvPr>
        </p:nvSpPr>
        <p:spPr/>
        <p:txBody>
          <a:bodyPr vert="horz" lIns="91440" tIns="45720" rIns="91440" bIns="45720" rtlCol="0" anchor="t">
            <a:normAutofit/>
          </a:bodyPr>
          <a:lstStyle/>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AC/DC UPS &amp; Inverter Solutions for Industries, Data </a:t>
            </a:r>
            <a:r>
              <a:rPr lang="en-US" sz="1200" dirty="0" err="1">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Centres</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and Commercial Application</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DC System for Communication System</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Lead Acid , VRLA, Nicke- Cadmium (Ni-Cd)  &amp;  Sodium Battery Technologies</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Solar Solutions</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DC-DC Converters</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Mobile / Containerized Backup Systems for Emergency Use</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Custom Built outdoor UPS Systems .  </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Customer Support for Installation, Testing and Preventive Maintenance</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After Sales Support</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044C6335-FF37-DDEE-0583-3C6BD91345C4}"/>
              </a:ext>
            </a:extLst>
          </p:cNvPr>
          <p:cNvSpPr>
            <a:spLocks noGrp="1"/>
          </p:cNvSpPr>
          <p:nvPr>
            <p:ph type="body" sz="half" idx="2"/>
          </p:nvPr>
        </p:nvSpPr>
        <p:spPr/>
        <p:txBody>
          <a:bodyPr vert="horz" lIns="91440" tIns="45720" rIns="91440" bIns="45720" rtlCol="0" anchor="t">
            <a:normAutofit/>
          </a:bodyPr>
          <a:lstStyle/>
          <a:p>
            <a:r>
              <a:rPr lang="en-US" dirty="0">
                <a:solidFill>
                  <a:srgbClr val="0A1068"/>
                </a:solidFill>
                <a:latin typeface="Tahoma" panose="020B0604030504040204" pitchFamily="34" charset="0"/>
                <a:ea typeface="Tahoma" panose="020B0604030504040204" pitchFamily="34" charset="0"/>
                <a:cs typeface="Tahoma" panose="020B0604030504040204" pitchFamily="34" charset="0"/>
              </a:rPr>
              <a:t>Products &amp; Solutions</a:t>
            </a:r>
          </a:p>
        </p:txBody>
      </p:sp>
    </p:spTree>
    <p:extLst>
      <p:ext uri="{BB962C8B-B14F-4D97-AF65-F5344CB8AC3E}">
        <p14:creationId xmlns:p14="http://schemas.microsoft.com/office/powerpoint/2010/main" val="1534491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A166-CAAE-2F38-8B77-BC7B1427F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68EB9-B484-2737-B97D-8FAC897C3B92}"/>
              </a:ext>
            </a:extLst>
          </p:cNvPr>
          <p:cNvSpPr>
            <a:spLocks noGrp="1"/>
          </p:cNvSpPr>
          <p:nvPr>
            <p:ph type="title"/>
          </p:nvPr>
        </p:nvSpPr>
        <p:spPr/>
        <p:txBody>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Power Backup </a:t>
            </a:r>
          </a:p>
        </p:txBody>
      </p:sp>
      <p:sp>
        <p:nvSpPr>
          <p:cNvPr id="3" name="Content Placeholder 2">
            <a:extLst>
              <a:ext uri="{FF2B5EF4-FFF2-40B4-BE49-F238E27FC236}">
                <a16:creationId xmlns:a16="http://schemas.microsoft.com/office/drawing/2014/main" id="{D7B396CD-5B76-DE72-748F-7630FFD3D146}"/>
              </a:ext>
            </a:extLst>
          </p:cNvPr>
          <p:cNvSpPr>
            <a:spLocks noGrp="1"/>
          </p:cNvSpPr>
          <p:nvPr>
            <p:ph idx="1"/>
          </p:nvPr>
        </p:nvSpPr>
        <p:spPr/>
        <p:txBody>
          <a:bodyPr vert="horz" lIns="91440" tIns="45720" rIns="91440" bIns="45720" rtlCol="0" anchor="t">
            <a:normAutofit/>
          </a:bodyPr>
          <a:lstStyle/>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RKA Power AB, Sweden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APS Energia Poland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La Marche, USA </a:t>
            </a:r>
          </a:p>
          <a:p>
            <a:pPr marL="228600" marR="0" lvl="0" indent="-228600" algn="l" defTabSz="914400" rtl="0" eaLnBrk="1" fontAlgn="auto" latinLnBrk="0" hangingPunct="1">
              <a:lnSpc>
                <a:spcPct val="120000"/>
              </a:lnSpc>
              <a:spcBef>
                <a:spcPts val="1000"/>
              </a:spcBef>
              <a:spcAft>
                <a:spcPts val="0"/>
              </a:spcAft>
              <a:buClrTx/>
              <a:buSzPct val="87000"/>
              <a:buFont typeface="Arial" panose="020B0604020202020204" pitchFamily="34" charset="0"/>
              <a:buChar char="•"/>
              <a:tabLst/>
              <a:defRPr/>
            </a:pPr>
            <a:r>
              <a:rPr kumimoji="0" lang="en-US" sz="1200" b="0" i="0" u="none" strike="noStrike" kern="1200" cap="none" spc="0" normalizeH="0" baseline="0" noProof="0" dirty="0">
                <a:ln>
                  <a:noFill/>
                </a:ln>
                <a:solidFill>
                  <a:srgbClr val="0A1068"/>
                </a:solidFill>
                <a:effectLst/>
                <a:highlight>
                  <a:srgbClr val="FFFFFF"/>
                </a:highlight>
                <a:uLnTx/>
                <a:uFillTx/>
                <a:latin typeface="Tahoma" panose="020B0604030504040204" pitchFamily="34" charset="0"/>
                <a:ea typeface="Tahoma" panose="020B0604030504040204" pitchFamily="34" charset="0"/>
                <a:cs typeface="Tahoma" panose="020B0604030504040204" pitchFamily="34" charset="0"/>
              </a:rPr>
              <a:t>BAE Batteries, Germany </a:t>
            </a:r>
          </a:p>
          <a:p>
            <a:pPr marL="228600" marR="0" lvl="0" indent="-228600" algn="l" defTabSz="914400" rtl="0" eaLnBrk="1" fontAlgn="auto" latinLnBrk="0" hangingPunct="1">
              <a:lnSpc>
                <a:spcPct val="120000"/>
              </a:lnSpc>
              <a:spcBef>
                <a:spcPts val="1000"/>
              </a:spcBef>
              <a:spcAft>
                <a:spcPts val="0"/>
              </a:spcAft>
              <a:buClrTx/>
              <a:buSzPct val="87000"/>
              <a:buFont typeface="Arial" panose="020B0604020202020204" pitchFamily="34" charset="0"/>
              <a:buChar char="•"/>
              <a:tabLst/>
              <a:defRP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Gaz Energy, Germany</a:t>
            </a:r>
          </a:p>
          <a:p>
            <a:pPr marL="228600" marR="0" lvl="0" indent="-228600" algn="l" defTabSz="914400" rtl="0" eaLnBrk="1" fontAlgn="auto" latinLnBrk="0" hangingPunct="1">
              <a:lnSpc>
                <a:spcPct val="120000"/>
              </a:lnSpc>
              <a:spcBef>
                <a:spcPts val="1000"/>
              </a:spcBef>
              <a:spcAft>
                <a:spcPts val="0"/>
              </a:spcAft>
              <a:buClrTx/>
              <a:buSzPct val="87000"/>
              <a:buFont typeface="Arial" panose="020B0604020202020204" pitchFamily="34" charset="0"/>
              <a:buChar char="•"/>
              <a:tabLst/>
              <a:defRP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TDK-EPCOS </a:t>
            </a:r>
            <a:endParaRPr kumimoji="0" lang="en-US" sz="2800" b="0" i="0" u="none" strike="noStrike" kern="1200" cap="none" spc="0" normalizeH="0" baseline="0" noProof="0" dirty="0">
              <a:ln>
                <a:noFill/>
              </a:ln>
              <a:solidFill>
                <a:srgbClr val="0A1068"/>
              </a:solidFill>
              <a:effectLst/>
              <a:uLnTx/>
              <a:uFillTx/>
              <a:latin typeface="Tahoma" panose="020B0604030504040204" pitchFamily="34" charset="0"/>
              <a:ea typeface="Tahoma" panose="020B0604030504040204" pitchFamily="34" charset="0"/>
              <a:cs typeface="Tahoma" panose="020B0604030504040204" pitchFamily="34" charset="0"/>
            </a:endParaRPr>
          </a:p>
          <a:p>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EFA4D48F-1562-3519-96B2-6FAADE278C86}"/>
              </a:ext>
            </a:extLst>
          </p:cNvPr>
          <p:cNvSpPr>
            <a:spLocks noGrp="1"/>
          </p:cNvSpPr>
          <p:nvPr>
            <p:ph type="body" sz="half" idx="2"/>
          </p:nvPr>
        </p:nvSpPr>
        <p:spPr/>
        <p:txBody>
          <a:bodyPr vert="horz" lIns="91440" tIns="45720" rIns="91440" bIns="45720" rtlCol="0" anchor="t">
            <a:normAutofit/>
          </a:bodyPr>
          <a:lstStyle/>
          <a:p>
            <a:r>
              <a:rPr lang="en-US" dirty="0">
                <a:solidFill>
                  <a:srgbClr val="0A1068"/>
                </a:solidFill>
                <a:latin typeface="Tahoma" panose="020B0604030504040204" pitchFamily="34" charset="0"/>
                <a:ea typeface="Tahoma" panose="020B0604030504040204" pitchFamily="34" charset="0"/>
                <a:cs typeface="Tahoma" panose="020B0604030504040204" pitchFamily="34" charset="0"/>
              </a:rPr>
              <a:t>We Represent</a:t>
            </a:r>
          </a:p>
        </p:txBody>
      </p:sp>
    </p:spTree>
    <p:extLst>
      <p:ext uri="{BB962C8B-B14F-4D97-AF65-F5344CB8AC3E}">
        <p14:creationId xmlns:p14="http://schemas.microsoft.com/office/powerpoint/2010/main" val="1842026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ED92E-8BA1-B0C6-5186-61E214C21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6B59F-1EDF-1EAB-6078-5EC56EDD6266}"/>
              </a:ext>
            </a:extLst>
          </p:cNvPr>
          <p:cNvSpPr>
            <a:spLocks noGrp="1"/>
          </p:cNvSpPr>
          <p:nvPr>
            <p:ph type="title"/>
          </p:nvPr>
        </p:nvSpPr>
        <p:spPr/>
        <p:txBody>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Power Backup </a:t>
            </a:r>
          </a:p>
        </p:txBody>
      </p:sp>
      <p:sp>
        <p:nvSpPr>
          <p:cNvPr id="3" name="Content Placeholder 2">
            <a:extLst>
              <a:ext uri="{FF2B5EF4-FFF2-40B4-BE49-F238E27FC236}">
                <a16:creationId xmlns:a16="http://schemas.microsoft.com/office/drawing/2014/main" id="{D468D7A5-A9CB-1261-4AF8-36BC3074B466}"/>
              </a:ext>
            </a:extLst>
          </p:cNvPr>
          <p:cNvSpPr>
            <a:spLocks noGrp="1"/>
          </p:cNvSpPr>
          <p:nvPr>
            <p:ph idx="1"/>
          </p:nvPr>
        </p:nvSpPr>
        <p:spPr/>
        <p:txBody>
          <a:bodyPr vert="horz" lIns="91440" tIns="45720" rIns="91440" bIns="45720" rtlCol="0" anchor="t">
            <a:normAutofit/>
          </a:bodyPr>
          <a:lstStyle/>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Rectifiers and Chargers (DC UPS) </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Uninterruptible Power Supply (AC UPS)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Inverters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Solar Systems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Stationary Batteries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After Sales Support</a:t>
            </a: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FD3748E4-0AD6-6E7E-027B-CD738ED2FBD9}"/>
              </a:ext>
            </a:extLst>
          </p:cNvPr>
          <p:cNvSpPr>
            <a:spLocks noGrp="1"/>
          </p:cNvSpPr>
          <p:nvPr>
            <p:ph type="body" sz="half" idx="2"/>
          </p:nvPr>
        </p:nvSpPr>
        <p:spPr/>
        <p:txBody>
          <a:bodyPr vert="horz" lIns="91440" tIns="45720" rIns="91440" bIns="45720" rtlCol="0" anchor="t">
            <a:normAutofit/>
          </a:bodyPr>
          <a:lstStyle/>
          <a:p>
            <a:r>
              <a:rPr lang="en-US" dirty="0">
                <a:solidFill>
                  <a:srgbClr val="0A1068"/>
                </a:solidFill>
                <a:latin typeface="Tahoma" panose="020B0604030504040204" pitchFamily="34" charset="0"/>
                <a:ea typeface="Tahoma" panose="020B0604030504040204" pitchFamily="34" charset="0"/>
                <a:cs typeface="Tahoma" panose="020B0604030504040204" pitchFamily="34" charset="0"/>
              </a:rPr>
              <a:t>Products and Services</a:t>
            </a:r>
          </a:p>
        </p:txBody>
      </p:sp>
    </p:spTree>
    <p:extLst>
      <p:ext uri="{BB962C8B-B14F-4D97-AF65-F5344CB8AC3E}">
        <p14:creationId xmlns:p14="http://schemas.microsoft.com/office/powerpoint/2010/main" val="41983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424A-19B2-013D-4D55-B3D67FF21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D3578-42E4-7CA6-8E1B-F79A0A6988E1}"/>
              </a:ext>
            </a:extLst>
          </p:cNvPr>
          <p:cNvSpPr>
            <a:spLocks noGrp="1"/>
          </p:cNvSpPr>
          <p:nvPr>
            <p:ph type="title"/>
          </p:nvPr>
        </p:nvSpPr>
        <p:spPr/>
        <p:txBody>
          <a:bodyPr>
            <a:normAutofit/>
          </a:bodyPr>
          <a:lstStyle/>
          <a:p>
            <a:r>
              <a:rPr lang="en-US" sz="3800" b="0" dirty="0">
                <a:latin typeface="Tahoma" panose="020B0604030504040204" pitchFamily="34" charset="0"/>
                <a:ea typeface="Tahoma" panose="020B0604030504040204" pitchFamily="34" charset="0"/>
                <a:cs typeface="Tahoma" panose="020B0604030504040204" pitchFamily="34" charset="0"/>
              </a:rPr>
              <a:t>Rectifiers/Battery Chargers</a:t>
            </a:r>
          </a:p>
        </p:txBody>
      </p:sp>
      <p:sp>
        <p:nvSpPr>
          <p:cNvPr id="3" name="Content Placeholder 2">
            <a:extLst>
              <a:ext uri="{FF2B5EF4-FFF2-40B4-BE49-F238E27FC236}">
                <a16:creationId xmlns:a16="http://schemas.microsoft.com/office/drawing/2014/main" id="{66808B25-827D-5B7B-6A1A-26FCD0593AEE}"/>
              </a:ext>
            </a:extLst>
          </p:cNvPr>
          <p:cNvSpPr>
            <a:spLocks noGrp="1"/>
          </p:cNvSpPr>
          <p:nvPr>
            <p:ph idx="1"/>
          </p:nvPr>
        </p:nvSpPr>
        <p:spPr>
          <a:xfrm>
            <a:off x="568899" y="2194562"/>
            <a:ext cx="10890928" cy="4270095"/>
          </a:xfrm>
        </p:spPr>
        <p:txBody>
          <a:bodyPr vert="horz" lIns="91440" tIns="45720" rIns="91440" bIns="45720" rtlCol="0" anchor="t">
            <a:noAutofit/>
          </a:bodyPr>
          <a:lstStyle/>
          <a:p>
            <a:pPr marL="0" indent="0">
              <a:buNone/>
            </a:pPr>
            <a:r>
              <a:rPr lang="en-US" sz="16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Reliable DC Power Solutions for Critical Applications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DC UPS systems play a vital role in ensuring the safe, reliable, and uninterrupted operation of electrical and industrial networks. Designed to provide continuous DC power during utility failures and disturbances, our DC UPS solutions support mission-critical equipment across a wide range of industries. With extensive experience in power backup technologies, we offer a comprehensive portfolio of DC UPS systems tailored to meet diverse operational requirements, voltage levels, capacities, and application environments.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solutions are engineered for high reliability, efficiency, and scalability, making them ideal for both new installations and system upgrades. Whether the requirement is for a standalone unit, a redundant configuration, or a fully modular N+1 system, we deliver customized solutions that ensure maximum uptime and operational continuity.</a:t>
            </a:r>
          </a:p>
          <a:p>
            <a:pPr marL="0" indent="0">
              <a:buNone/>
            </a:pPr>
            <a:r>
              <a:rPr lang="en-US" sz="16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Product Technologies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We offer DC UPS systems based on multiple proven technologies to suit specific application needs: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Thyristor / SCR Based Rectifier Systems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IGBT Based Rectifier Systems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High-Frequency SMPS Rectifier Systems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Modular Hot-Swappable Power Systems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Hybrid and Customized Power Solutions</a:t>
            </a: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3122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D246-6977-0550-E0C4-8A3D13980F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91E47F-E11B-3E7C-C538-706CB9FDF86E}"/>
              </a:ext>
            </a:extLst>
          </p:cNvPr>
          <p:cNvSpPr>
            <a:spLocks noGrp="1"/>
          </p:cNvSpPr>
          <p:nvPr>
            <p:ph idx="1"/>
          </p:nvPr>
        </p:nvSpPr>
        <p:spPr>
          <a:xfrm>
            <a:off x="568899" y="1122468"/>
            <a:ext cx="10890928" cy="5342190"/>
          </a:xfrm>
        </p:spPr>
        <p:txBody>
          <a:bodyPr vert="horz" lIns="91440" tIns="45720" rIns="91440" bIns="45720" rtlCol="0" anchor="t">
            <a:normAutofit/>
          </a:bodyPr>
          <a:lstStyle/>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DC UPS Voltage &amp; Current Range</a:t>
            </a:r>
          </a:p>
          <a:p>
            <a:pPr>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DC UPS systems are available in standard output voltages of 12V, 24V, 48V, 60V, 110V, 125V, and 220V, with custom voltage options available on request. They support a wide output current range from 5A up to 2500A, with tailored capacities designed for specialized industrial applications.</a:t>
            </a:r>
          </a:p>
          <a:p>
            <a:pPr>
              <a:buNone/>
            </a:pPr>
            <a:endPar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System Configurations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To meet varying reliability and redundancy requirements, we offer  High-Availability Power Architecture: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Standalone Systems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Single Integrated Units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Parallel Redundant Systems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Modular Expandable Systems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N+1 Redundancy Configurations </a:t>
            </a:r>
          </a:p>
          <a:p>
            <a:pPr lvl="0"/>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Custom Built Solutions </a:t>
            </a: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7654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86D82-0FBB-5D53-429F-9EFD00D3B8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8C6CA-1753-179E-7F27-C10920DFB402}"/>
              </a:ext>
            </a:extLst>
          </p:cNvPr>
          <p:cNvSpPr>
            <a:spLocks noGrp="1"/>
          </p:cNvSpPr>
          <p:nvPr>
            <p:ph idx="1"/>
          </p:nvPr>
        </p:nvSpPr>
        <p:spPr>
          <a:xfrm>
            <a:off x="568899" y="793940"/>
            <a:ext cx="10890928" cy="5670718"/>
          </a:xfrm>
        </p:spPr>
        <p:txBody>
          <a:bodyPr vert="horz" lIns="91440" tIns="45720" rIns="91440" bIns="45720" rtlCol="0" anchor="t">
            <a:normAutofit/>
          </a:bodyPr>
          <a:lstStyle/>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Key Features</a:t>
            </a:r>
            <a:endParaRPr lang="en-US"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Standard or customized systems - enhanced by an extensive range of options</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User Friendly HMI and Alarm Unit</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Monitor and control parameters locally/ remotely</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Several types of batteries options (LA, VRLA, Ni-CD, Li-Fe, Sodium-Nickel)  </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Parallel operation</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 MTBF, low MTTR</a:t>
            </a: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Can also be used as direct power supply</a:t>
            </a:r>
            <a:endPar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Key Applications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DC UPS systems are used across critical infrastructure and industry, including power plants, substations, oil &amp; gas, petrochemical and water treatment facilities, switchgear and protection systems, telecom networks, data centers, rail and metro systems, process industries, renewable energy plants, and industrial automation &amp; control systems.</a:t>
            </a:r>
          </a:p>
        </p:txBody>
      </p:sp>
    </p:spTree>
    <p:extLst>
      <p:ext uri="{BB962C8B-B14F-4D97-AF65-F5344CB8AC3E}">
        <p14:creationId xmlns:p14="http://schemas.microsoft.com/office/powerpoint/2010/main" val="3618697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FB62-9654-8AE4-BE05-582099132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5A79A-0AC9-B07F-944B-C759979C10A0}"/>
              </a:ext>
            </a:extLst>
          </p:cNvPr>
          <p:cNvSpPr>
            <a:spLocks noGrp="1"/>
          </p:cNvSpPr>
          <p:nvPr>
            <p:ph type="title"/>
          </p:nvPr>
        </p:nvSpPr>
        <p:spPr/>
        <p:txBody>
          <a:bodyPr>
            <a:normAutofit/>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DC-DC Converters</a:t>
            </a:r>
          </a:p>
        </p:txBody>
      </p:sp>
      <p:sp>
        <p:nvSpPr>
          <p:cNvPr id="3" name="Content Placeholder 2">
            <a:extLst>
              <a:ext uri="{FF2B5EF4-FFF2-40B4-BE49-F238E27FC236}">
                <a16:creationId xmlns:a16="http://schemas.microsoft.com/office/drawing/2014/main" id="{E4209787-E8CA-B273-28DA-DCE799837680}"/>
              </a:ext>
            </a:extLst>
          </p:cNvPr>
          <p:cNvSpPr>
            <a:spLocks noGrp="1"/>
          </p:cNvSpPr>
          <p:nvPr>
            <p:ph idx="1"/>
          </p:nvPr>
        </p:nvSpPr>
        <p:spPr>
          <a:xfrm>
            <a:off x="640080" y="2513294"/>
            <a:ext cx="10890928" cy="4270095"/>
          </a:xfrm>
        </p:spPr>
        <p:txBody>
          <a:bodyPr vert="horz" lIns="91440" tIns="45720" rIns="91440" bIns="45720" rtlCol="0" anchor="t">
            <a:normAutofit/>
          </a:bodyPr>
          <a:lstStyle/>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We offer a comprehensive range of DC-DC converters with power ratings from 50W to 40kW, designed to meet the demands of wide variety of applications. Engineered for robust performance and high reliability, our converters are ideal for environments where durability and consistent operation are critical.</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product portfolio offers one of the industry’s broadest ranges of input and output voltage combinations, along with multiple package styles and flexible mounting options to meet diverse system requirements.</a:t>
            </a:r>
          </a:p>
          <a:p>
            <a:pPr marL="0" indent="0" fontAlgn="t">
              <a:buNone/>
            </a:pP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Key technical features include:</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Ultra-rugged design compliant with stringent industrial standards</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Wide operating temperature range and high tolerance to shock, vibration, and humidity</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 MTBF and long operational lifecycle</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Conformal coating for protection against moisture, dust, and corrosive environments</a:t>
            </a:r>
          </a:p>
          <a:p>
            <a:pPr marL="0" indent="0" fontAlgn="t">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Configurable electrical and mechanical parameters for application-specific customization</a:t>
            </a:r>
          </a:p>
          <a:p>
            <a:pPr marL="0" indent="0">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89413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DF7B6-2CFF-BF4C-BF6F-656F753873BD}"/>
              </a:ext>
            </a:extLst>
          </p:cNvPr>
          <p:cNvSpPr>
            <a:spLocks noGrp="1"/>
          </p:cNvSpPr>
          <p:nvPr>
            <p:ph type="title"/>
          </p:nvPr>
        </p:nvSpPr>
        <p:spPr>
          <a:xfrm>
            <a:off x="640079" y="1362457"/>
            <a:ext cx="10890929" cy="1097280"/>
          </a:xfrm>
        </p:spPr>
        <p:txBody>
          <a:bodyPr>
            <a:normAutofit/>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AC Uninterruptible Power Supply &amp; Inverters</a:t>
            </a:r>
          </a:p>
        </p:txBody>
      </p:sp>
      <p:sp>
        <p:nvSpPr>
          <p:cNvPr id="3" name="Content Placeholder 2">
            <a:extLst>
              <a:ext uri="{FF2B5EF4-FFF2-40B4-BE49-F238E27FC236}">
                <a16:creationId xmlns:a16="http://schemas.microsoft.com/office/drawing/2014/main" id="{F80520D8-3821-A541-4B5B-07F39511D0D7}"/>
              </a:ext>
            </a:extLst>
          </p:cNvPr>
          <p:cNvSpPr>
            <a:spLocks noGrp="1"/>
          </p:cNvSpPr>
          <p:nvPr>
            <p:ph idx="1"/>
          </p:nvPr>
        </p:nvSpPr>
        <p:spPr>
          <a:xfrm>
            <a:off x="640080" y="2217557"/>
            <a:ext cx="10890928" cy="4545552"/>
          </a:xfrm>
        </p:spPr>
        <p:txBody>
          <a:bodyPr vert="horz" lIns="91440" tIns="45720" rIns="91440" bIns="45720" rtlCol="0" anchor="t">
            <a:normAutofit/>
          </a:bodyPr>
          <a:lstStyle/>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Industrial &amp; Commercial UPS Systems </a:t>
            </a:r>
            <a:endParaRPr lang="en-US" b="1"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Our Industrial and Commercial UPS systems are engineered to provide uninterrupted, conditioned power to critical loads operating in demanding environments. Designed around true online double-conversion VFI technology, these systems deliver complete isolation from utility power disturbances, ensuring stable voltage and frequency for sensitive equipment and mission-critical processes.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We offer a comprehensive range of UPS solutions from leading manufacturers,. Available in single-phase and three-phase configurations, these systems support VRLA, Ni-Cd, and Lithium-ion battery technologies, providing high availability, scalability, and long-term operational reliability.</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Product</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Topology: Thyristor / SCR, IGBT</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Voltage Range</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120VAC, 208VAC, 230VAC, 380VAC, 415VAC, 480VAC</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Configuration</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Standalone / Single units, Parallel Redundant, Modular, N+1 etc.</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Ratings</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t>
            </a: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1-PHASE OUTPUT- 1KVA -100KVA</a:t>
            </a: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3-PHASE OUTPUT- 10KVA -500KVA</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Application</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Industrial Facilities, Powerplants, Substations, Oil &amp; Gas, Petrochemical, water, Communication Systems, Data Centers, Hospitals etc. </a:t>
            </a: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3542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1E74C-346D-3AC8-F856-38A6958404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230875-407F-7F70-CE2D-14D92C1D77D9}"/>
              </a:ext>
            </a:extLst>
          </p:cNvPr>
          <p:cNvSpPr>
            <a:spLocks noGrp="1"/>
          </p:cNvSpPr>
          <p:nvPr>
            <p:ph idx="1"/>
          </p:nvPr>
        </p:nvSpPr>
        <p:spPr>
          <a:xfrm>
            <a:off x="576072" y="1334284"/>
            <a:ext cx="11549954" cy="4976888"/>
          </a:xfrm>
        </p:spPr>
        <p:txBody>
          <a:bodyPr vert="horz" lIns="91440" tIns="45720" rIns="91440" bIns="45720" rtlCol="0" anchor="t">
            <a:normAutofit/>
          </a:bodyPr>
          <a:lstStyle/>
          <a:p>
            <a:pPr>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Key Features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 and constant efficiency even at low output power</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Higher reliability, MTBF and overload capacity through oversized components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Redundant controls for high reliability:</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Separate microprocessors for rectifier, inverter, static switch and communication</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Separate, redundant power supplies for control cards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Input isolation transformer</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High short-circuit resistance</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Redundant and individually monitored fans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Intelligent battery management, test and status diagnostics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Compatible with all battery types</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Font typeface="Arial"/>
              <a:buChar char="•"/>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Full digital control</a:t>
            </a:r>
            <a:endParaRPr lang="en-US" dirty="0">
              <a:solidFill>
                <a:srgbClr val="0A1068"/>
              </a:solidFill>
              <a:latin typeface="Tahoma" panose="020B0604030504040204" pitchFamily="34" charset="0"/>
              <a:ea typeface="Tahoma" panose="020B0604030504040204" pitchFamily="34" charset="0"/>
              <a:cs typeface="Tahoma" panose="020B0604030504040204" pitchFamily="34" charset="0"/>
            </a:endParaRPr>
          </a:p>
          <a:p>
            <a:pPr>
              <a:buNone/>
            </a:pPr>
            <a:endParaRPr lang="en-US"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50109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40BB6-15DB-1DD3-CDB4-04DFED5141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4A82C-BC78-D9D0-A9F5-A56C23229754}"/>
              </a:ext>
            </a:extLst>
          </p:cNvPr>
          <p:cNvSpPr>
            <a:spLocks noGrp="1"/>
          </p:cNvSpPr>
          <p:nvPr>
            <p:ph idx="1"/>
          </p:nvPr>
        </p:nvSpPr>
        <p:spPr>
          <a:xfrm>
            <a:off x="650536" y="1294013"/>
            <a:ext cx="10890928" cy="5563987"/>
          </a:xfrm>
        </p:spPr>
        <p:txBody>
          <a:bodyPr vert="horz" lIns="91440" tIns="45720" rIns="91440" bIns="45720" rtlCol="0" anchor="t">
            <a:normAutofit/>
          </a:bodyPr>
          <a:lstStyle/>
          <a:p>
            <a:pPr marL="0" indent="0">
              <a:buNone/>
            </a:pPr>
            <a:r>
              <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Applications: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Power generation plants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Electrical substations and transmission networks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Oil &amp; gas facilities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Petrochemical and refining industries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Water and wastewater treatment plants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Industrial manufacturing and process control systems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Data centers and server rooms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Telecommunications networks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Railway and metro infrastructure</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Airports and aviation systems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Healthcare and hospital critical systems</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Commercial buildings with mission-critical infrastructure. </a:t>
            </a:r>
          </a:p>
        </p:txBody>
      </p:sp>
    </p:spTree>
    <p:extLst>
      <p:ext uri="{BB962C8B-B14F-4D97-AF65-F5344CB8AC3E}">
        <p14:creationId xmlns:p14="http://schemas.microsoft.com/office/powerpoint/2010/main" val="2357940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AF705-5B39-C5CD-86B0-33D017DC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B5932-4DF5-64CF-F390-A0EA9FBF95AC}"/>
              </a:ext>
            </a:extLst>
          </p:cNvPr>
          <p:cNvSpPr>
            <a:spLocks noGrp="1"/>
          </p:cNvSpPr>
          <p:nvPr>
            <p:ph type="title"/>
          </p:nvPr>
        </p:nvSpPr>
        <p:spPr>
          <a:xfrm>
            <a:off x="640079" y="1165655"/>
            <a:ext cx="10890929" cy="716281"/>
          </a:xfrm>
        </p:spPr>
        <p:txBody>
          <a:bodyPr>
            <a:normAutofit/>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Stationary Batteries &amp; Cell Monitoring Systems</a:t>
            </a:r>
          </a:p>
        </p:txBody>
      </p:sp>
      <p:sp>
        <p:nvSpPr>
          <p:cNvPr id="3" name="Content Placeholder 2">
            <a:extLst>
              <a:ext uri="{FF2B5EF4-FFF2-40B4-BE49-F238E27FC236}">
                <a16:creationId xmlns:a16="http://schemas.microsoft.com/office/drawing/2014/main" id="{5B8BD823-B024-9D14-B31B-09A771468ABF}"/>
              </a:ext>
            </a:extLst>
          </p:cNvPr>
          <p:cNvSpPr>
            <a:spLocks noGrp="1"/>
          </p:cNvSpPr>
          <p:nvPr>
            <p:ph idx="1"/>
          </p:nvPr>
        </p:nvSpPr>
        <p:spPr>
          <a:xfrm>
            <a:off x="640080" y="2098014"/>
            <a:ext cx="11292522" cy="4534105"/>
          </a:xfrm>
        </p:spPr>
        <p:txBody>
          <a:bodyPr vert="horz" lIns="91440" tIns="45720" rIns="91440" bIns="45720" rtlCol="0" anchor="t">
            <a:normAutofit lnSpcReduction="10000"/>
          </a:bodyPr>
          <a:lstStyle/>
          <a:p>
            <a:pPr>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When grid failure is not an option, our stationary energy storage systems provide flawless power continuity. We engineer tailored, high-performance battery banks designed to bridge immediate sub-second transients and handle sustained multi-hour utility outages. Our systems fortify critical infrastructure across power plants, sub-stations, data centers, telecom networks, healthcare facilities, and heavy industrial automation plants.</a:t>
            </a:r>
          </a:p>
          <a:p>
            <a:pPr>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Additionally, we provide customized mounting options, including racks and enclosures, to meet specific customer needs. Our expertise extends to cell monitoring systems, which help predict potential failures in advance, ensuring the safety and reliability of your critical loads</a:t>
            </a:r>
          </a:p>
          <a:p>
            <a:pPr>
              <a:buNone/>
            </a:pPr>
            <a:r>
              <a:rPr lang="en-US" sz="14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Battery Chemistry </a:t>
            </a:r>
          </a:p>
          <a:p>
            <a:pPr>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Lead Acid (LA) </a:t>
            </a: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Vented  Cells: We provide high-quality long-life Battery from, Plante’ (GroE), Tubular (</a:t>
            </a:r>
            <a:r>
              <a:rPr lang="en-US" sz="1200" dirty="0" err="1">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OPzS</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and  flat-plate (Ogi) designed for 20years life. </a:t>
            </a:r>
          </a:p>
          <a:p>
            <a:r>
              <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VRLA (Valve-Regulated Lead-Acid):  We offer  GEL and AGM cells designed for long life and suitable for DC , AC UPS  and High Temperature application  </a:t>
            </a:r>
          </a:p>
          <a:p>
            <a:r>
              <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Nickel-Cadmium (Ni-Cd):  Vented Pocket Plate (H, M, L type), Sintered Plate, Ultra Low Maintenance type.</a:t>
            </a:r>
          </a:p>
          <a:p>
            <a:r>
              <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Lithium-ion, Sodium-Nikel, Nickel-Metal Hydride (NiMH) are offered as per customer specification </a:t>
            </a:r>
            <a:br>
              <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br>
              <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endParaRPr lang="en-US" sz="13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  </a:t>
            </a:r>
          </a:p>
          <a:p>
            <a:pPr>
              <a:buNone/>
            </a:pPr>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endPar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endParaRPr lang="en-US"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endParaRPr lang="en-US"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a:p>
            <a:pPr>
              <a:buNone/>
            </a:pPr>
            <a:endParaRPr lang="en-US"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75095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407EE-0A70-022A-0716-AABA0FBDF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78F83-21EF-1217-1E75-20EB5FC3A495}"/>
              </a:ext>
            </a:extLst>
          </p:cNvPr>
          <p:cNvSpPr>
            <a:spLocks noGrp="1"/>
          </p:cNvSpPr>
          <p:nvPr>
            <p:ph type="title"/>
          </p:nvPr>
        </p:nvSpPr>
        <p:spPr/>
        <p:txBody>
          <a:bodyPr>
            <a:normAutofit fontScale="90000"/>
          </a:bodyPr>
          <a:lstStyle/>
          <a:p>
            <a:r>
              <a:rPr lang="en-US" dirty="0">
                <a:solidFill>
                  <a:srgbClr val="0A1068"/>
                </a:solidFill>
                <a:ea typeface="+mj-lt"/>
                <a:cs typeface="Poppins"/>
              </a:rPr>
              <a:t>Containerized emergency Power Backup solutions</a:t>
            </a:r>
            <a:endParaRPr lang="en-US" dirty="0">
              <a:solidFill>
                <a:srgbClr val="0A1068"/>
              </a:solidFill>
            </a:endParaRPr>
          </a:p>
        </p:txBody>
      </p:sp>
      <p:sp>
        <p:nvSpPr>
          <p:cNvPr id="3" name="Content Placeholder 2">
            <a:extLst>
              <a:ext uri="{FF2B5EF4-FFF2-40B4-BE49-F238E27FC236}">
                <a16:creationId xmlns:a16="http://schemas.microsoft.com/office/drawing/2014/main" id="{F3C87983-C610-4769-5E90-EF201ACE74DB}"/>
              </a:ext>
            </a:extLst>
          </p:cNvPr>
          <p:cNvSpPr>
            <a:spLocks noGrp="1"/>
          </p:cNvSpPr>
          <p:nvPr>
            <p:ph idx="1"/>
          </p:nvPr>
        </p:nvSpPr>
        <p:spPr>
          <a:xfrm>
            <a:off x="640080" y="2487894"/>
            <a:ext cx="10890928" cy="3012795"/>
          </a:xfrm>
        </p:spPr>
        <p:txBody>
          <a:bodyPr vert="horz" lIns="91440" tIns="45720" rIns="91440" bIns="45720" rtlCol="0" anchor="t">
            <a:normAutofit/>
          </a:bodyPr>
          <a:lstStyle/>
          <a:p>
            <a:pPr marL="0" indent="0">
              <a:buNone/>
            </a:pPr>
            <a:r>
              <a:rPr lang="en-US" sz="1200" dirty="0">
                <a:solidFill>
                  <a:srgbClr val="0A1068"/>
                </a:solidFill>
                <a:highlight>
                  <a:srgbClr val="FFFFFF"/>
                </a:highlight>
                <a:latin typeface="Tahoma"/>
                <a:ea typeface="+mn-lt"/>
                <a:cs typeface="+mn-lt"/>
              </a:rPr>
              <a:t>We have in-house expertise to custom design and integrate emergency backup solutions tailored to customer specifications. Our portfolio includes truck and trailer-mounted solutions supplied to various utility and oil &amp; gas companies. These systems are invaluable during emergencies and startups, providing</a:t>
            </a:r>
            <a:br>
              <a:rPr lang="en-US" sz="1200" dirty="0">
                <a:highlight>
                  <a:srgbClr val="FFFFFF"/>
                </a:highlight>
                <a:latin typeface="Tahoma"/>
                <a:ea typeface="+mn-lt"/>
                <a:cs typeface="+mn-lt"/>
              </a:rPr>
            </a:br>
            <a:r>
              <a:rPr lang="en-US" sz="1200" dirty="0">
                <a:solidFill>
                  <a:srgbClr val="0A1068"/>
                </a:solidFill>
                <a:highlight>
                  <a:srgbClr val="FFFFFF"/>
                </a:highlight>
                <a:latin typeface="Tahoma"/>
                <a:ea typeface="+mn-lt"/>
                <a:cs typeface="+mn-lt"/>
              </a:rPr>
              <a:t>reliable and efficient backup power when it is needed most </a:t>
            </a:r>
            <a:br>
              <a:rPr lang="en-US" sz="1200" dirty="0">
                <a:highlight>
                  <a:srgbClr val="FFFFFF"/>
                </a:highlight>
                <a:latin typeface="Tahoma"/>
                <a:ea typeface="+mn-lt"/>
                <a:cs typeface="+mn-lt"/>
              </a:rPr>
            </a:br>
            <a:br>
              <a:rPr lang="en-US" sz="1200" dirty="0">
                <a:highlight>
                  <a:srgbClr val="FFFFFF"/>
                </a:highlight>
                <a:latin typeface="Tahoma"/>
                <a:ea typeface="+mn-lt"/>
                <a:cs typeface="+mn-lt"/>
              </a:rPr>
            </a:br>
            <a:br>
              <a:rPr lang="en-US" sz="1200" dirty="0">
                <a:solidFill>
                  <a:srgbClr val="0A1068"/>
                </a:solidFill>
                <a:highlight>
                  <a:srgbClr val="FFFFFF"/>
                </a:highlight>
                <a:latin typeface="Tahoma"/>
                <a:ea typeface="+mn-lt"/>
                <a:cs typeface="+mn-lt"/>
              </a:rPr>
            </a:br>
            <a:endParaRPr lang="en-US" sz="1200" dirty="0">
              <a:solidFill>
                <a:srgbClr val="0A1068"/>
              </a:solidFill>
              <a:highlight>
                <a:srgbClr val="FFFFFF"/>
              </a:highlight>
              <a:latin typeface="Tahoma"/>
              <a:ea typeface="+mn-lt"/>
              <a:cs typeface="+mn-lt"/>
            </a:endParaRPr>
          </a:p>
        </p:txBody>
      </p:sp>
    </p:spTree>
    <p:extLst>
      <p:ext uri="{BB962C8B-B14F-4D97-AF65-F5344CB8AC3E}">
        <p14:creationId xmlns:p14="http://schemas.microsoft.com/office/powerpoint/2010/main" val="3666871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C13A4-B0D2-966B-48B5-EB756D855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0CFD2-633D-0091-AAA3-4E169A08D04C}"/>
              </a:ext>
            </a:extLst>
          </p:cNvPr>
          <p:cNvSpPr>
            <a:spLocks noGrp="1"/>
          </p:cNvSpPr>
          <p:nvPr>
            <p:ph type="title"/>
          </p:nvPr>
        </p:nvSpPr>
        <p:spPr/>
        <p:txBody>
          <a:bodyPr>
            <a:normAutofit/>
          </a:bodyPr>
          <a:lstStyle/>
          <a:p>
            <a:r>
              <a:rPr lang="en-US" b="0" dirty="0">
                <a:solidFill>
                  <a:srgbClr val="0A1068"/>
                </a:solidFill>
                <a:latin typeface="Tahoma" panose="020B0604030504040204" pitchFamily="34" charset="0"/>
                <a:ea typeface="Tahoma" panose="020B0604030504040204" pitchFamily="34" charset="0"/>
                <a:cs typeface="Tahoma" panose="020B0604030504040204" pitchFamily="34" charset="0"/>
              </a:rPr>
              <a:t>After Sales Support</a:t>
            </a:r>
          </a:p>
        </p:txBody>
      </p:sp>
      <p:sp>
        <p:nvSpPr>
          <p:cNvPr id="3" name="Content Placeholder 2">
            <a:extLst>
              <a:ext uri="{FF2B5EF4-FFF2-40B4-BE49-F238E27FC236}">
                <a16:creationId xmlns:a16="http://schemas.microsoft.com/office/drawing/2014/main" id="{758B4DCE-0F08-8259-3D82-4B65D9B3C5AD}"/>
              </a:ext>
            </a:extLst>
          </p:cNvPr>
          <p:cNvSpPr>
            <a:spLocks noGrp="1"/>
          </p:cNvSpPr>
          <p:nvPr>
            <p:ph idx="1"/>
          </p:nvPr>
        </p:nvSpPr>
        <p:spPr>
          <a:xfrm>
            <a:off x="640080" y="2613934"/>
            <a:ext cx="10890928" cy="2774852"/>
          </a:xfrm>
        </p:spPr>
        <p:txBody>
          <a:bodyPr vert="horz" lIns="91440" tIns="45720" rIns="91440" bIns="45720" rtlCol="0" anchor="t">
            <a:normAutofit/>
          </a:bodyPr>
          <a:lstStyle/>
          <a:p>
            <a:pPr marL="0" indent="0">
              <a:buNone/>
            </a:pPr>
            <a:r>
              <a:rPr lang="en-US" sz="16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Customer support includes:</a:t>
            </a:r>
            <a:endParaRPr lang="en-US" sz="1600" b="1"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Engineering</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Installation</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Testing &amp; Commissioning</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Preventive Maintenance</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On-Site Training etc.</a:t>
            </a:r>
            <a:endParaRPr lang="en-US" sz="1200" dirty="0">
              <a:solidFill>
                <a:srgbClr val="0A1068"/>
              </a:solidFill>
              <a:latin typeface="Tahoma" panose="020B0604030504040204" pitchFamily="34" charset="0"/>
              <a:ea typeface="Tahoma" panose="020B0604030504040204" pitchFamily="34" charset="0"/>
              <a:cs typeface="Tahoma" panose="020B0604030504040204" pitchFamily="34" charset="0"/>
            </a:endParaRPr>
          </a:p>
          <a:p>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32062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B13F-3B56-DCDD-1443-70F5724936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55332-C800-7569-9A76-AAE042AFB40F}"/>
              </a:ext>
            </a:extLst>
          </p:cNvPr>
          <p:cNvSpPr>
            <a:spLocks noGrp="1"/>
          </p:cNvSpPr>
          <p:nvPr>
            <p:ph idx="1"/>
          </p:nvPr>
        </p:nvSpPr>
        <p:spPr>
          <a:xfrm>
            <a:off x="258318" y="1074419"/>
            <a:ext cx="10890928" cy="5381625"/>
          </a:xfrm>
        </p:spPr>
        <p:txBody>
          <a:bodyPr vert="horz" lIns="91440" tIns="45720" rIns="91440" bIns="45720" rtlCol="0" anchor="t">
            <a:normAutofit/>
          </a:bodyPr>
          <a:lstStyle/>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Design and Engineering</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We have extensive knowledge in the design and engineering of Backup Power Systems which involves a comprehensive process to create a system that efficiently protects the critical loads. UPS system is a highly critical equipment in any Industry, and its design must ensure reliability, safety &amp; compliance with industry standards including System Analysis, Load Calculation, SLD preparation, Circuit Configuration, Selection &amp; Design of Batteries, Calculation of Heat Dissipation, Air flow requirements, Drawings etc. </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Dismantling &amp; Installation at site</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Dismantling a running Backup Power System requires exceptional expertise and meticulous preparation, especially in an operational plant and within tight schedules such as shutdowns or turnarounds. With nearly two decades of experience, we have developed in-house capabilities to execute these tasks while adhering to stringent plant safety and reliability standards. We meticulously plan all preparations in advance, including the safe disposal of hazardous materials like batteries. Our team ensures seamless operations and timely completion of the job, avoiding any potential disruptions. </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Testing and Commissioning</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Backup Power Systems in industrial applications are highly expensive and designed for a long lifespan of over 20 years. Improper commissioning by unprofessional personnel can lead to system failures and premature battery degradation / failures, resulting in costly replacements. Our service engineers and technicians are trained by OEMs and well equipped to conduct on-site testing and commissioning with the highest level of precision and care. With us your critical systems are in safe hands!</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Retrofitting and Upgradation</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Industrial backup power syste</a:t>
            </a: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ms </a:t>
            </a: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represent a significant investment, and their reliability is paramount for any facility. Knowing the critical nature and the prohibitive cost of complete replacement, we offer strategic upgrade solutions. Leveraging our immense experience and specialized in-house expertise, we provide detailed analysis, re-engineering, and upgrading of outdated systems to meet contemporary standards. This approach not only extends the operational lifespan of these critical systems but does so in a cost-effective manner, ensuring sustained reliability and performance.</a:t>
            </a:r>
          </a:p>
          <a:p>
            <a:endPar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9876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0675-A222-B179-B972-28D5227154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45CA79-28E3-AAD1-6080-93636E8A5740}"/>
              </a:ext>
            </a:extLst>
          </p:cNvPr>
          <p:cNvSpPr>
            <a:spLocks noGrp="1"/>
          </p:cNvSpPr>
          <p:nvPr>
            <p:ph idx="1"/>
          </p:nvPr>
        </p:nvSpPr>
        <p:spPr>
          <a:xfrm>
            <a:off x="240030" y="1038225"/>
            <a:ext cx="10890928" cy="5600699"/>
          </a:xfrm>
        </p:spPr>
        <p:txBody>
          <a:bodyPr vert="horz" lIns="91440" tIns="45720" rIns="91440" bIns="45720" rtlCol="0" anchor="t">
            <a:normAutofit/>
          </a:bodyPr>
          <a:lstStyle/>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Live Cutover of Critical Loads</a:t>
            </a:r>
          </a:p>
          <a:p>
            <a:pPr marL="0" indent="0">
              <a:buNone/>
            </a:pP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Ensuring uninterrupted power in industrial plants is essential, and system maintenance or replacement can be unavoidable. Recognizing this, we’ve crafted</a:t>
            </a: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cutting-edge solutions for critical scenarios. Our process involves a precise analysis of your unique power needs, followed by the engineering of robust solutions that ensure uninterrupted power supply. We achieve this by adeptly transferring the load to an alternative source in real-time, safeguarding</a:t>
            </a:r>
            <a:b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br>
            <a:r>
              <a:rPr lang="en-US" sz="1200"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your operations against power interruptions</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Diagnosing and Troubleshooting</a:t>
            </a:r>
          </a:p>
          <a:p>
            <a:pPr marL="0" indent="0">
              <a:buNone/>
            </a:pPr>
            <a:r>
              <a:rPr lang="en-US" sz="1200" dirty="0">
                <a:solidFill>
                  <a:srgbClr val="0A1068"/>
                </a:solidFill>
                <a:highlight>
                  <a:srgbClr val="FFFFFF"/>
                </a:highlight>
                <a:latin typeface="Poppins"/>
                <a:cs typeface="Poppins"/>
              </a:rPr>
              <a:t>With several years of hands-on experience, continuously updated knowledge through factory and in-house training, and the use of modern test equipment, we are well-equipped to support our customers during critical failures. Our expertise enables us to diagnose, troubleshoot, and restore the systems efficiently, helping to prevent production losses and ensure smooth operations. </a:t>
            </a:r>
            <a:br>
              <a:rPr lang="en-US" sz="1200" dirty="0">
                <a:solidFill>
                  <a:srgbClr val="0A1068"/>
                </a:solidFill>
                <a:highlight>
                  <a:srgbClr val="FFFFFF"/>
                </a:highlight>
                <a:latin typeface="Poppins"/>
                <a:cs typeface="Poppins"/>
              </a:rPr>
            </a:br>
            <a:endParaRPr lang="en-US" sz="1200" dirty="0">
              <a:solidFill>
                <a:srgbClr val="0A1068"/>
              </a:solidFill>
              <a:highlight>
                <a:srgbClr val="FFFFFF"/>
              </a:highlight>
              <a:latin typeface="Poppins"/>
              <a:cs typeface="Poppins"/>
            </a:endParaRP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Preventive &amp; Corrective Maintenance (PM &amp; CM)</a:t>
            </a:r>
          </a:p>
          <a:p>
            <a:pPr marL="0" indent="0">
              <a:buNone/>
            </a:pPr>
            <a:r>
              <a:rPr lang="en-US" sz="1200" dirty="0">
                <a:solidFill>
                  <a:srgbClr val="0A1068"/>
                </a:solidFill>
                <a:highlight>
                  <a:srgbClr val="FFFFFF"/>
                </a:highlight>
                <a:latin typeface="Tahoma"/>
                <a:ea typeface="+mn-lt"/>
                <a:cs typeface="+mn-lt"/>
              </a:rPr>
              <a:t>Preventive maintenance is crucial for ensuring systems remain in optimal running condition. During shutdowns, we offer a comprehensive range of services, including inspections, cleaning, tightening connections, repairs / replacements, capacity testing of battery banks, load testing, and more. In addition to preventive care, we also provide corrective maintenance to address failures, including trouble shooting and system restoration</a:t>
            </a:r>
          </a:p>
          <a:p>
            <a:pPr marL="0" indent="0">
              <a:buNone/>
            </a:pPr>
            <a:r>
              <a:rPr lang="en-US" sz="1200" b="1" dirty="0">
                <a:solidFill>
                  <a:srgbClr val="0A1068"/>
                </a:solidFill>
                <a:highlight>
                  <a:srgbClr val="FFFFFF"/>
                </a:highlight>
                <a:latin typeface="Tahoma" panose="020B0604030504040204" pitchFamily="34" charset="0"/>
                <a:ea typeface="Tahoma" panose="020B0604030504040204" pitchFamily="34" charset="0"/>
                <a:cs typeface="Tahoma" panose="020B0604030504040204" pitchFamily="34" charset="0"/>
              </a:rPr>
              <a:t>Annual Maintenance Contracts (AMC)</a:t>
            </a:r>
          </a:p>
          <a:p>
            <a:pPr marL="0" indent="0">
              <a:buNone/>
            </a:pPr>
            <a:r>
              <a:rPr lang="en-US" sz="1200" dirty="0">
                <a:solidFill>
                  <a:srgbClr val="0A1068"/>
                </a:solidFill>
                <a:highlight>
                  <a:srgbClr val="FFFFFF"/>
                </a:highlight>
                <a:latin typeface="Tahoma"/>
                <a:ea typeface="+mn-lt"/>
                <a:cs typeface="+mn-lt"/>
              </a:rPr>
              <a:t>Customers can sign annual or long-term maintenance contracts with us for quarterly, half-yearly, or yearly visits, ensuring planned maintenance and a seamless supply of spare parts at special rates. Our comprehensive services include regular inspections, detailed cleaning, tightening of connections, repairs / replacements, capacity testing of battery banks, and load testing. Additionally, we provide corrective maintenance to troubleshoot and restore systems after failures. These contracts offer cost savings, priority service, and guaranteed parts availability, ensuring your systems remain in optimal condition and minimizing unexpected downtime.</a:t>
            </a:r>
            <a:endParaRPr lang="en-US" sz="1200" dirty="0">
              <a:solidFill>
                <a:srgbClr val="0A1068"/>
              </a:solidFill>
              <a:highlight>
                <a:srgbClr val="FFFFFF"/>
              </a:highlight>
              <a:latin typeface="Poppins"/>
              <a:cs typeface="Poppins"/>
            </a:endParaRPr>
          </a:p>
        </p:txBody>
      </p:sp>
    </p:spTree>
    <p:extLst>
      <p:ext uri="{BB962C8B-B14F-4D97-AF65-F5344CB8AC3E}">
        <p14:creationId xmlns:p14="http://schemas.microsoft.com/office/powerpoint/2010/main" val="3224982940"/>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emplate>Facet</Template>
  <TotalTime>4727</TotalTime>
  <Words>2186</Words>
  <Application>Microsoft Office PowerPoint</Application>
  <PresentationFormat>Widescreen</PresentationFormat>
  <Paragraphs>158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Grandview Display</vt:lpstr>
      <vt:lpstr>Poppins</vt:lpstr>
      <vt:lpstr>Tahoma</vt:lpstr>
      <vt:lpstr>DashVTI</vt:lpstr>
      <vt:lpstr>Information </vt:lpstr>
      <vt:lpstr>Trevor Technologies WLL </vt:lpstr>
      <vt:lpstr>Power Backup </vt:lpstr>
      <vt:lpstr>Power Backup </vt:lpstr>
      <vt:lpstr>Power Backup </vt:lpstr>
      <vt:lpstr>Rectifiers/Battery Chargers</vt:lpstr>
      <vt:lpstr>PowerPoint Presentation</vt:lpstr>
      <vt:lpstr>PowerPoint Presentation</vt:lpstr>
      <vt:lpstr>DC-DC Converters</vt:lpstr>
      <vt:lpstr>AC Uninterruptible Power Supply &amp; Inverters</vt:lpstr>
      <vt:lpstr>PowerPoint Presentation</vt:lpstr>
      <vt:lpstr>PowerPoint Presentation</vt:lpstr>
      <vt:lpstr>Stationary Batteries &amp; Cell Monitoring Systems</vt:lpstr>
      <vt:lpstr>Containerized emergency Power Backup solutions</vt:lpstr>
      <vt:lpstr>After Sales Support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Biju George</dc:creator>
  <cp:lastModifiedBy>Biju George</cp:lastModifiedBy>
  <cp:revision>554</cp:revision>
  <dcterms:created xsi:type="dcterms:W3CDTF">2026-01-18T14:17:35Z</dcterms:created>
  <dcterms:modified xsi:type="dcterms:W3CDTF">2026-06-06T07:30:58Z</dcterms:modified>
</cp:coreProperties>
</file>